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4" r:id="rId1"/>
  </p:sldMasterIdLst>
  <p:notesMasterIdLst>
    <p:notesMasterId r:id="rId18"/>
  </p:notesMasterIdLst>
  <p:sldIdLst>
    <p:sldId id="256" r:id="rId2"/>
    <p:sldId id="259" r:id="rId3"/>
    <p:sldId id="260" r:id="rId4"/>
    <p:sldId id="257" r:id="rId5"/>
    <p:sldId id="258" r:id="rId6"/>
    <p:sldId id="263" r:id="rId7"/>
    <p:sldId id="264" r:id="rId8"/>
    <p:sldId id="266" r:id="rId9"/>
    <p:sldId id="288" r:id="rId10"/>
    <p:sldId id="271" r:id="rId11"/>
    <p:sldId id="273" r:id="rId12"/>
    <p:sldId id="275" r:id="rId13"/>
    <p:sldId id="280" r:id="rId14"/>
    <p:sldId id="281" r:id="rId15"/>
    <p:sldId id="282" r:id="rId16"/>
    <p:sldId id="28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2C3A37-48E7-4889-B604-0BCEC7A79226}" v="45" dt="2026-05-28T10:58:05.0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3447" autoAdjust="0"/>
  </p:normalViewPr>
  <p:slideViewPr>
    <p:cSldViewPr snapToGrid="0">
      <p:cViewPr varScale="1">
        <p:scale>
          <a:sx n="77" d="100"/>
          <a:sy n="77" d="100"/>
        </p:scale>
        <p:origin x="91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FC8976-9372-45F7-A26F-E9928519ABF9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56CD62B1-DE4E-4A26-84BC-B8AF4328E1E5}">
      <dgm:prSet custT="1"/>
      <dgm:spPr/>
      <dgm:t>
        <a:bodyPr/>
        <a:lstStyle/>
        <a:p>
          <a:r>
            <a: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Chronic pain affects millions worldwide and relies on subjective reporting.</a:t>
          </a:r>
        </a:p>
      </dgm:t>
    </dgm:pt>
    <dgm:pt modelId="{18958CA7-4AF1-41EA-BA1D-820BD52A9C96}" type="parTrans" cxnId="{3BE79523-14DD-4EF0-9A81-71A9E56137AD}">
      <dgm:prSet/>
      <dgm:spPr/>
      <dgm:t>
        <a:bodyPr/>
        <a:lstStyle/>
        <a:p>
          <a:endParaRPr lang="en-US"/>
        </a:p>
      </dgm:t>
    </dgm:pt>
    <dgm:pt modelId="{00B65ED1-D365-4895-8C5E-75B94017EE60}" type="sibTrans" cxnId="{3BE79523-14DD-4EF0-9A81-71A9E56137AD}">
      <dgm:prSet/>
      <dgm:spPr/>
      <dgm:t>
        <a:bodyPr/>
        <a:lstStyle/>
        <a:p>
          <a:endParaRPr lang="en-US"/>
        </a:p>
      </dgm:t>
    </dgm:pt>
    <dgm:pt modelId="{6377CC9B-D3C0-44EF-94AF-860ACCD1DF24}">
      <dgm:prSet custT="1"/>
      <dgm:spPr/>
      <dgm:t>
        <a:bodyPr/>
        <a:lstStyle/>
        <a:p>
          <a:r>
            <a: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This project uses wearable physiological signals to classify pain levels</a:t>
          </a:r>
        </a:p>
        <a:p>
          <a:r>
            <a: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(1–10).</a:t>
          </a:r>
        </a:p>
      </dgm:t>
    </dgm:pt>
    <dgm:pt modelId="{E44FCA4E-18AC-47A1-8DE7-05C098CFFE0B}" type="parTrans" cxnId="{173B0AA5-953B-4E6E-8801-3375A0D3E807}">
      <dgm:prSet/>
      <dgm:spPr/>
      <dgm:t>
        <a:bodyPr/>
        <a:lstStyle/>
        <a:p>
          <a:endParaRPr lang="en-US"/>
        </a:p>
      </dgm:t>
    </dgm:pt>
    <dgm:pt modelId="{866CBA6F-71FB-4388-BDF7-B20396F41BDC}" type="sibTrans" cxnId="{173B0AA5-953B-4E6E-8801-3375A0D3E807}">
      <dgm:prSet/>
      <dgm:spPr/>
      <dgm:t>
        <a:bodyPr/>
        <a:lstStyle/>
        <a:p>
          <a:endParaRPr lang="en-US"/>
        </a:p>
      </dgm:t>
    </dgm:pt>
    <dgm:pt modelId="{C04C6175-7A46-472A-B45B-11A41124812C}">
      <dgm:prSet custT="1"/>
      <dgm:spPr/>
      <dgm:t>
        <a:bodyPr/>
        <a:lstStyle/>
        <a:p>
          <a:r>
            <a: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Machine learning model helps to improves accuracy and provides real-time monitoring.</a:t>
          </a:r>
        </a:p>
      </dgm:t>
    </dgm:pt>
    <dgm:pt modelId="{493701E2-A735-47CC-B88E-54A5087B23A5}" type="parTrans" cxnId="{F2F67C5D-476B-453F-BB91-48DE3CF5AE4C}">
      <dgm:prSet/>
      <dgm:spPr/>
      <dgm:t>
        <a:bodyPr/>
        <a:lstStyle/>
        <a:p>
          <a:endParaRPr lang="en-US"/>
        </a:p>
      </dgm:t>
    </dgm:pt>
    <dgm:pt modelId="{FB1A3A26-BE05-489C-9E22-E83D99B4CFF9}" type="sibTrans" cxnId="{F2F67C5D-476B-453F-BB91-48DE3CF5AE4C}">
      <dgm:prSet/>
      <dgm:spPr/>
      <dgm:t>
        <a:bodyPr/>
        <a:lstStyle/>
        <a:p>
          <a:endParaRPr lang="en-US"/>
        </a:p>
      </dgm:t>
    </dgm:pt>
    <dgm:pt modelId="{0B84BEDA-0E65-43AC-9F73-BC5EB8B736B5}" type="pres">
      <dgm:prSet presAssocID="{18FC8976-9372-45F7-A26F-E9928519ABF9}" presName="linear" presStyleCnt="0">
        <dgm:presLayoutVars>
          <dgm:animLvl val="lvl"/>
          <dgm:resizeHandles val="exact"/>
        </dgm:presLayoutVars>
      </dgm:prSet>
      <dgm:spPr/>
    </dgm:pt>
    <dgm:pt modelId="{30FDD8A7-2919-4E81-8EA6-D30F866503E4}" type="pres">
      <dgm:prSet presAssocID="{56CD62B1-DE4E-4A26-84BC-B8AF4328E1E5}" presName="parentText" presStyleLbl="node1" presStyleIdx="0" presStyleCnt="3" custLinFactNeighborX="-2001" custLinFactNeighborY="41642">
        <dgm:presLayoutVars>
          <dgm:chMax val="0"/>
          <dgm:bulletEnabled val="1"/>
        </dgm:presLayoutVars>
      </dgm:prSet>
      <dgm:spPr/>
    </dgm:pt>
    <dgm:pt modelId="{EED07A6C-82BE-4413-957B-663CB2DC6BCB}" type="pres">
      <dgm:prSet presAssocID="{00B65ED1-D365-4895-8C5E-75B94017EE60}" presName="spacer" presStyleCnt="0"/>
      <dgm:spPr/>
    </dgm:pt>
    <dgm:pt modelId="{52628076-554A-4B70-B48A-4A9F96515FD3}" type="pres">
      <dgm:prSet presAssocID="{6377CC9B-D3C0-44EF-94AF-860ACCD1DF2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7601C2C-C1CF-481A-92AA-635F1FF3B7E7}" type="pres">
      <dgm:prSet presAssocID="{866CBA6F-71FB-4388-BDF7-B20396F41BDC}" presName="spacer" presStyleCnt="0"/>
      <dgm:spPr/>
    </dgm:pt>
    <dgm:pt modelId="{634FF1AE-9EEA-418F-B38E-38DABE4A6249}" type="pres">
      <dgm:prSet presAssocID="{C04C6175-7A46-472A-B45B-11A41124812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820EB05-E086-4613-A1B5-5E0E09A3034A}" type="presOf" srcId="{6377CC9B-D3C0-44EF-94AF-860ACCD1DF24}" destId="{52628076-554A-4B70-B48A-4A9F96515FD3}" srcOrd="0" destOrd="0" presId="urn:microsoft.com/office/officeart/2005/8/layout/vList2"/>
    <dgm:cxn modelId="{3BE79523-14DD-4EF0-9A81-71A9E56137AD}" srcId="{18FC8976-9372-45F7-A26F-E9928519ABF9}" destId="{56CD62B1-DE4E-4A26-84BC-B8AF4328E1E5}" srcOrd="0" destOrd="0" parTransId="{18958CA7-4AF1-41EA-BA1D-820BD52A9C96}" sibTransId="{00B65ED1-D365-4895-8C5E-75B94017EE60}"/>
    <dgm:cxn modelId="{8478EB3B-1BF2-44B8-A502-68D71B24BB83}" type="presOf" srcId="{56CD62B1-DE4E-4A26-84BC-B8AF4328E1E5}" destId="{30FDD8A7-2919-4E81-8EA6-D30F866503E4}" srcOrd="0" destOrd="0" presId="urn:microsoft.com/office/officeart/2005/8/layout/vList2"/>
    <dgm:cxn modelId="{F2F67C5D-476B-453F-BB91-48DE3CF5AE4C}" srcId="{18FC8976-9372-45F7-A26F-E9928519ABF9}" destId="{C04C6175-7A46-472A-B45B-11A41124812C}" srcOrd="2" destOrd="0" parTransId="{493701E2-A735-47CC-B88E-54A5087B23A5}" sibTransId="{FB1A3A26-BE05-489C-9E22-E83D99B4CFF9}"/>
    <dgm:cxn modelId="{9343F94D-74E5-4274-B85A-5DB7F24F2AEB}" type="presOf" srcId="{18FC8976-9372-45F7-A26F-E9928519ABF9}" destId="{0B84BEDA-0E65-43AC-9F73-BC5EB8B736B5}" srcOrd="0" destOrd="0" presId="urn:microsoft.com/office/officeart/2005/8/layout/vList2"/>
    <dgm:cxn modelId="{173B0AA5-953B-4E6E-8801-3375A0D3E807}" srcId="{18FC8976-9372-45F7-A26F-E9928519ABF9}" destId="{6377CC9B-D3C0-44EF-94AF-860ACCD1DF24}" srcOrd="1" destOrd="0" parTransId="{E44FCA4E-18AC-47A1-8DE7-05C098CFFE0B}" sibTransId="{866CBA6F-71FB-4388-BDF7-B20396F41BDC}"/>
    <dgm:cxn modelId="{0A80BCCF-FE1B-4575-9E9F-CCE51346DD4B}" type="presOf" srcId="{C04C6175-7A46-472A-B45B-11A41124812C}" destId="{634FF1AE-9EEA-418F-B38E-38DABE4A6249}" srcOrd="0" destOrd="0" presId="urn:microsoft.com/office/officeart/2005/8/layout/vList2"/>
    <dgm:cxn modelId="{E023866E-4A48-41DD-924B-5A3433568B4E}" type="presParOf" srcId="{0B84BEDA-0E65-43AC-9F73-BC5EB8B736B5}" destId="{30FDD8A7-2919-4E81-8EA6-D30F866503E4}" srcOrd="0" destOrd="0" presId="urn:microsoft.com/office/officeart/2005/8/layout/vList2"/>
    <dgm:cxn modelId="{64D70626-3807-4AE1-9137-023DBC0AFA3B}" type="presParOf" srcId="{0B84BEDA-0E65-43AC-9F73-BC5EB8B736B5}" destId="{EED07A6C-82BE-4413-957B-663CB2DC6BCB}" srcOrd="1" destOrd="0" presId="urn:microsoft.com/office/officeart/2005/8/layout/vList2"/>
    <dgm:cxn modelId="{3D3EC5B1-4343-48C1-92D4-EE54E0387192}" type="presParOf" srcId="{0B84BEDA-0E65-43AC-9F73-BC5EB8B736B5}" destId="{52628076-554A-4B70-B48A-4A9F96515FD3}" srcOrd="2" destOrd="0" presId="urn:microsoft.com/office/officeart/2005/8/layout/vList2"/>
    <dgm:cxn modelId="{75197508-5314-4695-87E2-C1CCFF9175BF}" type="presParOf" srcId="{0B84BEDA-0E65-43AC-9F73-BC5EB8B736B5}" destId="{67601C2C-C1CF-481A-92AA-635F1FF3B7E7}" srcOrd="3" destOrd="0" presId="urn:microsoft.com/office/officeart/2005/8/layout/vList2"/>
    <dgm:cxn modelId="{320F114A-516A-4141-8594-8C5BD8374120}" type="presParOf" srcId="{0B84BEDA-0E65-43AC-9F73-BC5EB8B736B5}" destId="{634FF1AE-9EEA-418F-B38E-38DABE4A624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701652-7577-470E-BFA8-18145690C2F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24D2C28-73A1-4D12-88F7-9A2C0232674F}">
      <dgm:prSet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Chronic pain lasts longer than 3 months and impacts physical, emotional, and mental health.</a:t>
          </a:r>
        </a:p>
      </dgm:t>
    </dgm:pt>
    <dgm:pt modelId="{8634B518-EA3C-4FD6-97CF-A17FD70138CF}" type="parTrans" cxnId="{3370C81B-71FF-4B59-955C-0E61BD0CC937}">
      <dgm:prSet/>
      <dgm:spPr/>
      <dgm:t>
        <a:bodyPr/>
        <a:lstStyle/>
        <a:p>
          <a:endParaRPr lang="en-US"/>
        </a:p>
      </dgm:t>
    </dgm:pt>
    <dgm:pt modelId="{1FDDE1E4-E872-40C6-8570-F669093AE38E}" type="sibTrans" cxnId="{3370C81B-71FF-4B59-955C-0E61BD0CC937}">
      <dgm:prSet/>
      <dgm:spPr/>
      <dgm:t>
        <a:bodyPr/>
        <a:lstStyle/>
        <a:p>
          <a:endParaRPr lang="en-US"/>
        </a:p>
      </dgm:t>
    </dgm:pt>
    <dgm:pt modelId="{A3B50572-3084-4302-A631-A586D012F880}">
      <dgm:prSet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Wearable sensors capture measurable physiological changes related to pain.</a:t>
          </a:r>
        </a:p>
      </dgm:t>
    </dgm:pt>
    <dgm:pt modelId="{D6A4CEB5-480A-4A7C-B014-14E04A0527E9}" type="parTrans" cxnId="{BE6C2106-DFD4-4884-9072-988EB28E9EDD}">
      <dgm:prSet/>
      <dgm:spPr/>
      <dgm:t>
        <a:bodyPr/>
        <a:lstStyle/>
        <a:p>
          <a:endParaRPr lang="en-US"/>
        </a:p>
      </dgm:t>
    </dgm:pt>
    <dgm:pt modelId="{2B808B0C-9C99-4F5F-8C2F-12C006AE84B5}" type="sibTrans" cxnId="{BE6C2106-DFD4-4884-9072-988EB28E9EDD}">
      <dgm:prSet/>
      <dgm:spPr/>
      <dgm:t>
        <a:bodyPr/>
        <a:lstStyle/>
        <a:p>
          <a:endParaRPr lang="en-US"/>
        </a:p>
      </dgm:t>
    </dgm:pt>
    <dgm:pt modelId="{D6F84D67-AC60-4247-83A3-8228B2E72543}">
      <dgm:prSet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This project develops a machine-learning-based system to classify pain levels using </a:t>
          </a:r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physiological signals collected from a watch device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gm:t>
    </dgm:pt>
    <dgm:pt modelId="{D2354A80-867A-401A-BFF8-8BFBF862D0A5}" type="parTrans" cxnId="{2C1050E6-9087-410B-8518-1FCA5D0572A1}">
      <dgm:prSet/>
      <dgm:spPr/>
      <dgm:t>
        <a:bodyPr/>
        <a:lstStyle/>
        <a:p>
          <a:endParaRPr lang="en-US"/>
        </a:p>
      </dgm:t>
    </dgm:pt>
    <dgm:pt modelId="{D4489E28-85DF-4C24-9EA3-0ED37E158EE3}" type="sibTrans" cxnId="{2C1050E6-9087-410B-8518-1FCA5D0572A1}">
      <dgm:prSet/>
      <dgm:spPr/>
      <dgm:t>
        <a:bodyPr/>
        <a:lstStyle/>
        <a:p>
          <a:endParaRPr lang="en-US"/>
        </a:p>
      </dgm:t>
    </dgm:pt>
    <dgm:pt modelId="{2AA38221-9C30-4179-9C4A-5FE68BBAA1C5}" type="pres">
      <dgm:prSet presAssocID="{FD701652-7577-470E-BFA8-18145690C2FB}" presName="root" presStyleCnt="0">
        <dgm:presLayoutVars>
          <dgm:dir/>
          <dgm:resizeHandles val="exact"/>
        </dgm:presLayoutVars>
      </dgm:prSet>
      <dgm:spPr/>
    </dgm:pt>
    <dgm:pt modelId="{30FF5B51-C4E1-4A24-8733-5BFF1EFF628D}" type="pres">
      <dgm:prSet presAssocID="{424D2C28-73A1-4D12-88F7-9A2C0232674F}" presName="compNode" presStyleCnt="0"/>
      <dgm:spPr/>
    </dgm:pt>
    <dgm:pt modelId="{2CC476FC-8E57-49CB-8F44-D4B8D3F2B00A}" type="pres">
      <dgm:prSet presAssocID="{424D2C28-73A1-4D12-88F7-9A2C0232674F}" presName="bgRect" presStyleLbl="bgShp" presStyleIdx="0" presStyleCnt="3"/>
      <dgm:spPr/>
    </dgm:pt>
    <dgm:pt modelId="{E3AD4795-0BE6-4561-B5B8-89C03D71AE17}" type="pres">
      <dgm:prSet presAssocID="{424D2C28-73A1-4D12-88F7-9A2C0232674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93470E1C-85DB-4B9A-9D92-AD527A998A7D}" type="pres">
      <dgm:prSet presAssocID="{424D2C28-73A1-4D12-88F7-9A2C0232674F}" presName="spaceRect" presStyleCnt="0"/>
      <dgm:spPr/>
    </dgm:pt>
    <dgm:pt modelId="{9B18B43A-2B99-4BD2-A9B3-0D29FC659C03}" type="pres">
      <dgm:prSet presAssocID="{424D2C28-73A1-4D12-88F7-9A2C0232674F}" presName="parTx" presStyleLbl="revTx" presStyleIdx="0" presStyleCnt="3">
        <dgm:presLayoutVars>
          <dgm:chMax val="0"/>
          <dgm:chPref val="0"/>
        </dgm:presLayoutVars>
      </dgm:prSet>
      <dgm:spPr/>
    </dgm:pt>
    <dgm:pt modelId="{E75FCCEE-6C5F-4C41-8E98-D84F6D7B45FF}" type="pres">
      <dgm:prSet presAssocID="{1FDDE1E4-E872-40C6-8570-F669093AE38E}" presName="sibTrans" presStyleCnt="0"/>
      <dgm:spPr/>
    </dgm:pt>
    <dgm:pt modelId="{3382A9B6-F333-43F0-A4F3-1489C4EF982B}" type="pres">
      <dgm:prSet presAssocID="{A3B50572-3084-4302-A631-A586D012F880}" presName="compNode" presStyleCnt="0"/>
      <dgm:spPr/>
    </dgm:pt>
    <dgm:pt modelId="{B782C42F-A3D2-4F81-B318-697CE42AA4AE}" type="pres">
      <dgm:prSet presAssocID="{A3B50572-3084-4302-A631-A586D012F880}" presName="bgRect" presStyleLbl="bgShp" presStyleIdx="1" presStyleCnt="3"/>
      <dgm:spPr/>
    </dgm:pt>
    <dgm:pt modelId="{5741328C-F198-4069-9F15-4F13D3B7D5FF}" type="pres">
      <dgm:prSet presAssocID="{A3B50572-3084-4302-A631-A586D012F88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55E77CE5-6504-4316-9E2B-271BA91C76E2}" type="pres">
      <dgm:prSet presAssocID="{A3B50572-3084-4302-A631-A586D012F880}" presName="spaceRect" presStyleCnt="0"/>
      <dgm:spPr/>
    </dgm:pt>
    <dgm:pt modelId="{643D445C-0F57-4E77-A4DE-7517BBB30905}" type="pres">
      <dgm:prSet presAssocID="{A3B50572-3084-4302-A631-A586D012F880}" presName="parTx" presStyleLbl="revTx" presStyleIdx="1" presStyleCnt="3">
        <dgm:presLayoutVars>
          <dgm:chMax val="0"/>
          <dgm:chPref val="0"/>
        </dgm:presLayoutVars>
      </dgm:prSet>
      <dgm:spPr/>
    </dgm:pt>
    <dgm:pt modelId="{B377CE82-3C0A-4B6C-9BCC-BC564F140371}" type="pres">
      <dgm:prSet presAssocID="{2B808B0C-9C99-4F5F-8C2F-12C006AE84B5}" presName="sibTrans" presStyleCnt="0"/>
      <dgm:spPr/>
    </dgm:pt>
    <dgm:pt modelId="{7B543620-BDC6-42B1-B49D-AF12507E2FD1}" type="pres">
      <dgm:prSet presAssocID="{D6F84D67-AC60-4247-83A3-8228B2E72543}" presName="compNode" presStyleCnt="0"/>
      <dgm:spPr/>
    </dgm:pt>
    <dgm:pt modelId="{40FA8013-51DC-4A49-9425-513ECEC10C2A}" type="pres">
      <dgm:prSet presAssocID="{D6F84D67-AC60-4247-83A3-8228B2E72543}" presName="bgRect" presStyleLbl="bgShp" presStyleIdx="2" presStyleCnt="3"/>
      <dgm:spPr/>
    </dgm:pt>
    <dgm:pt modelId="{C164C6AA-FE37-46CF-A8E2-002ECDA08A20}" type="pres">
      <dgm:prSet presAssocID="{D6F84D67-AC60-4247-83A3-8228B2E7254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633C928F-65B8-463D-9C20-949E3C788F3B}" type="pres">
      <dgm:prSet presAssocID="{D6F84D67-AC60-4247-83A3-8228B2E72543}" presName="spaceRect" presStyleCnt="0"/>
      <dgm:spPr/>
    </dgm:pt>
    <dgm:pt modelId="{EB083398-8CCE-451B-B7C5-EA19A5F3D079}" type="pres">
      <dgm:prSet presAssocID="{D6F84D67-AC60-4247-83A3-8228B2E7254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E6C2106-DFD4-4884-9072-988EB28E9EDD}" srcId="{FD701652-7577-470E-BFA8-18145690C2FB}" destId="{A3B50572-3084-4302-A631-A586D012F880}" srcOrd="1" destOrd="0" parTransId="{D6A4CEB5-480A-4A7C-B014-14E04A0527E9}" sibTransId="{2B808B0C-9C99-4F5F-8C2F-12C006AE84B5}"/>
    <dgm:cxn modelId="{3370C81B-71FF-4B59-955C-0E61BD0CC937}" srcId="{FD701652-7577-470E-BFA8-18145690C2FB}" destId="{424D2C28-73A1-4D12-88F7-9A2C0232674F}" srcOrd="0" destOrd="0" parTransId="{8634B518-EA3C-4FD6-97CF-A17FD70138CF}" sibTransId="{1FDDE1E4-E872-40C6-8570-F669093AE38E}"/>
    <dgm:cxn modelId="{1BF7CD2C-596D-4C5E-9081-C8C85C8C0E48}" type="presOf" srcId="{FD701652-7577-470E-BFA8-18145690C2FB}" destId="{2AA38221-9C30-4179-9C4A-5FE68BBAA1C5}" srcOrd="0" destOrd="0" presId="urn:microsoft.com/office/officeart/2018/2/layout/IconVerticalSolidList"/>
    <dgm:cxn modelId="{B3BB0761-B42C-478E-A8EB-501B15B3AF02}" type="presOf" srcId="{424D2C28-73A1-4D12-88F7-9A2C0232674F}" destId="{9B18B43A-2B99-4BD2-A9B3-0D29FC659C03}" srcOrd="0" destOrd="0" presId="urn:microsoft.com/office/officeart/2018/2/layout/IconVerticalSolidList"/>
    <dgm:cxn modelId="{FF6FD852-7EB1-49E1-A031-93D675B2A7D4}" type="presOf" srcId="{D6F84D67-AC60-4247-83A3-8228B2E72543}" destId="{EB083398-8CCE-451B-B7C5-EA19A5F3D079}" srcOrd="0" destOrd="0" presId="urn:microsoft.com/office/officeart/2018/2/layout/IconVerticalSolidList"/>
    <dgm:cxn modelId="{D86538B2-A8A8-496A-958E-508F1D224843}" type="presOf" srcId="{A3B50572-3084-4302-A631-A586D012F880}" destId="{643D445C-0F57-4E77-A4DE-7517BBB30905}" srcOrd="0" destOrd="0" presId="urn:microsoft.com/office/officeart/2018/2/layout/IconVerticalSolidList"/>
    <dgm:cxn modelId="{2C1050E6-9087-410B-8518-1FCA5D0572A1}" srcId="{FD701652-7577-470E-BFA8-18145690C2FB}" destId="{D6F84D67-AC60-4247-83A3-8228B2E72543}" srcOrd="2" destOrd="0" parTransId="{D2354A80-867A-401A-BFF8-8BFBF862D0A5}" sibTransId="{D4489E28-85DF-4C24-9EA3-0ED37E158EE3}"/>
    <dgm:cxn modelId="{4A1F248E-831D-4623-BE77-A7558B987374}" type="presParOf" srcId="{2AA38221-9C30-4179-9C4A-5FE68BBAA1C5}" destId="{30FF5B51-C4E1-4A24-8733-5BFF1EFF628D}" srcOrd="0" destOrd="0" presId="urn:microsoft.com/office/officeart/2018/2/layout/IconVerticalSolidList"/>
    <dgm:cxn modelId="{B4760547-B001-40D5-A941-5802AEF5DD71}" type="presParOf" srcId="{30FF5B51-C4E1-4A24-8733-5BFF1EFF628D}" destId="{2CC476FC-8E57-49CB-8F44-D4B8D3F2B00A}" srcOrd="0" destOrd="0" presId="urn:microsoft.com/office/officeart/2018/2/layout/IconVerticalSolidList"/>
    <dgm:cxn modelId="{A5CF2596-4C47-45AF-A019-400AF187F9E3}" type="presParOf" srcId="{30FF5B51-C4E1-4A24-8733-5BFF1EFF628D}" destId="{E3AD4795-0BE6-4561-B5B8-89C03D71AE17}" srcOrd="1" destOrd="0" presId="urn:microsoft.com/office/officeart/2018/2/layout/IconVerticalSolidList"/>
    <dgm:cxn modelId="{FE53E066-23B5-46C4-91A6-1EF1CEACF2C8}" type="presParOf" srcId="{30FF5B51-C4E1-4A24-8733-5BFF1EFF628D}" destId="{93470E1C-85DB-4B9A-9D92-AD527A998A7D}" srcOrd="2" destOrd="0" presId="urn:microsoft.com/office/officeart/2018/2/layout/IconVerticalSolidList"/>
    <dgm:cxn modelId="{919E87C3-1BD6-4B36-B4CB-DBDF324E9468}" type="presParOf" srcId="{30FF5B51-C4E1-4A24-8733-5BFF1EFF628D}" destId="{9B18B43A-2B99-4BD2-A9B3-0D29FC659C03}" srcOrd="3" destOrd="0" presId="urn:microsoft.com/office/officeart/2018/2/layout/IconVerticalSolidList"/>
    <dgm:cxn modelId="{64411225-C448-4812-AD4F-E6CE2C7F96F5}" type="presParOf" srcId="{2AA38221-9C30-4179-9C4A-5FE68BBAA1C5}" destId="{E75FCCEE-6C5F-4C41-8E98-D84F6D7B45FF}" srcOrd="1" destOrd="0" presId="urn:microsoft.com/office/officeart/2018/2/layout/IconVerticalSolidList"/>
    <dgm:cxn modelId="{B6D77B7E-4514-480A-A6EF-8E205F82D711}" type="presParOf" srcId="{2AA38221-9C30-4179-9C4A-5FE68BBAA1C5}" destId="{3382A9B6-F333-43F0-A4F3-1489C4EF982B}" srcOrd="2" destOrd="0" presId="urn:microsoft.com/office/officeart/2018/2/layout/IconVerticalSolidList"/>
    <dgm:cxn modelId="{91DE77D5-0134-4C2E-A1F6-38F477028209}" type="presParOf" srcId="{3382A9B6-F333-43F0-A4F3-1489C4EF982B}" destId="{B782C42F-A3D2-4F81-B318-697CE42AA4AE}" srcOrd="0" destOrd="0" presId="urn:microsoft.com/office/officeart/2018/2/layout/IconVerticalSolidList"/>
    <dgm:cxn modelId="{C317B9DB-EC77-4A7F-BA74-E9F1D0C8D30E}" type="presParOf" srcId="{3382A9B6-F333-43F0-A4F3-1489C4EF982B}" destId="{5741328C-F198-4069-9F15-4F13D3B7D5FF}" srcOrd="1" destOrd="0" presId="urn:microsoft.com/office/officeart/2018/2/layout/IconVerticalSolidList"/>
    <dgm:cxn modelId="{25B323C2-ECDF-421D-9630-19FD817DEBEA}" type="presParOf" srcId="{3382A9B6-F333-43F0-A4F3-1489C4EF982B}" destId="{55E77CE5-6504-4316-9E2B-271BA91C76E2}" srcOrd="2" destOrd="0" presId="urn:microsoft.com/office/officeart/2018/2/layout/IconVerticalSolidList"/>
    <dgm:cxn modelId="{117DA50B-995F-44EF-BE05-B46E69148E53}" type="presParOf" srcId="{3382A9B6-F333-43F0-A4F3-1489C4EF982B}" destId="{643D445C-0F57-4E77-A4DE-7517BBB30905}" srcOrd="3" destOrd="0" presId="urn:microsoft.com/office/officeart/2018/2/layout/IconVerticalSolidList"/>
    <dgm:cxn modelId="{9283FBBA-829D-475B-806F-16DFA35D6524}" type="presParOf" srcId="{2AA38221-9C30-4179-9C4A-5FE68BBAA1C5}" destId="{B377CE82-3C0A-4B6C-9BCC-BC564F140371}" srcOrd="3" destOrd="0" presId="urn:microsoft.com/office/officeart/2018/2/layout/IconVerticalSolidList"/>
    <dgm:cxn modelId="{45CE8F4C-A5B7-462F-A053-0F208CE0B050}" type="presParOf" srcId="{2AA38221-9C30-4179-9C4A-5FE68BBAA1C5}" destId="{7B543620-BDC6-42B1-B49D-AF12507E2FD1}" srcOrd="4" destOrd="0" presId="urn:microsoft.com/office/officeart/2018/2/layout/IconVerticalSolidList"/>
    <dgm:cxn modelId="{119A2994-4693-4998-A0AD-39D55931EA93}" type="presParOf" srcId="{7B543620-BDC6-42B1-B49D-AF12507E2FD1}" destId="{40FA8013-51DC-4A49-9425-513ECEC10C2A}" srcOrd="0" destOrd="0" presId="urn:microsoft.com/office/officeart/2018/2/layout/IconVerticalSolidList"/>
    <dgm:cxn modelId="{92552F03-C9E2-474A-BCD1-1DB865D864A1}" type="presParOf" srcId="{7B543620-BDC6-42B1-B49D-AF12507E2FD1}" destId="{C164C6AA-FE37-46CF-A8E2-002ECDA08A20}" srcOrd="1" destOrd="0" presId="urn:microsoft.com/office/officeart/2018/2/layout/IconVerticalSolidList"/>
    <dgm:cxn modelId="{7C09D61F-F94C-4E04-BE12-28E7CA2012EA}" type="presParOf" srcId="{7B543620-BDC6-42B1-B49D-AF12507E2FD1}" destId="{633C928F-65B8-463D-9C20-949E3C788F3B}" srcOrd="2" destOrd="0" presId="urn:microsoft.com/office/officeart/2018/2/layout/IconVerticalSolidList"/>
    <dgm:cxn modelId="{E1462BE2-3E66-47EE-AEA8-52A27C527B20}" type="presParOf" srcId="{7B543620-BDC6-42B1-B49D-AF12507E2FD1}" destId="{EB083398-8CCE-451B-B7C5-EA19A5F3D07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FDD8A7-2919-4E81-8EA6-D30F866503E4}">
      <dsp:nvSpPr>
        <dsp:cNvPr id="0" name=""/>
        <dsp:cNvSpPr/>
      </dsp:nvSpPr>
      <dsp:spPr>
        <a:xfrm>
          <a:off x="0" y="112294"/>
          <a:ext cx="7213600" cy="1216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Chronic pain affects millions worldwide and relies on subjective reporting.</a:t>
          </a:r>
        </a:p>
      </dsp:txBody>
      <dsp:txXfrm>
        <a:off x="59399" y="171693"/>
        <a:ext cx="7094802" cy="1098002"/>
      </dsp:txXfrm>
    </dsp:sp>
    <dsp:sp modelId="{52628076-554A-4B70-B48A-4A9F96515FD3}">
      <dsp:nvSpPr>
        <dsp:cNvPr id="0" name=""/>
        <dsp:cNvSpPr/>
      </dsp:nvSpPr>
      <dsp:spPr>
        <a:xfrm>
          <a:off x="0" y="1438341"/>
          <a:ext cx="7213600" cy="1216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This project uses wearable physiological signals to classify pain levels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(1–10).</a:t>
          </a:r>
        </a:p>
      </dsp:txBody>
      <dsp:txXfrm>
        <a:off x="59399" y="1497740"/>
        <a:ext cx="7094802" cy="1098002"/>
      </dsp:txXfrm>
    </dsp:sp>
    <dsp:sp modelId="{634FF1AE-9EEA-418F-B38E-38DABE4A6249}">
      <dsp:nvSpPr>
        <dsp:cNvPr id="0" name=""/>
        <dsp:cNvSpPr/>
      </dsp:nvSpPr>
      <dsp:spPr>
        <a:xfrm>
          <a:off x="0" y="2842341"/>
          <a:ext cx="7213600" cy="1216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Machine learning model helps to improves accuracy and provides real-time monitoring.</a:t>
          </a:r>
        </a:p>
      </dsp:txBody>
      <dsp:txXfrm>
        <a:off x="59399" y="2901740"/>
        <a:ext cx="7094802" cy="10980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C476FC-8E57-49CB-8F44-D4B8D3F2B00A}">
      <dsp:nvSpPr>
        <dsp:cNvPr id="0" name=""/>
        <dsp:cNvSpPr/>
      </dsp:nvSpPr>
      <dsp:spPr>
        <a:xfrm>
          <a:off x="0" y="674"/>
          <a:ext cx="9339263" cy="157849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AD4795-0BE6-4561-B5B8-89C03D71AE17}">
      <dsp:nvSpPr>
        <dsp:cNvPr id="0" name=""/>
        <dsp:cNvSpPr/>
      </dsp:nvSpPr>
      <dsp:spPr>
        <a:xfrm>
          <a:off x="477495" y="355836"/>
          <a:ext cx="868173" cy="86817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18B43A-2B99-4BD2-A9B3-0D29FC659C03}">
      <dsp:nvSpPr>
        <dsp:cNvPr id="0" name=""/>
        <dsp:cNvSpPr/>
      </dsp:nvSpPr>
      <dsp:spPr>
        <a:xfrm>
          <a:off x="1823163" y="674"/>
          <a:ext cx="7516099" cy="15784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058" tIns="167058" rIns="167058" bIns="16705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Chronic pain lasts longer than 3 months and impacts physical, emotional, and mental health.</a:t>
          </a:r>
        </a:p>
      </dsp:txBody>
      <dsp:txXfrm>
        <a:off x="1823163" y="674"/>
        <a:ext cx="7516099" cy="1578496"/>
      </dsp:txXfrm>
    </dsp:sp>
    <dsp:sp modelId="{B782C42F-A3D2-4F81-B318-697CE42AA4AE}">
      <dsp:nvSpPr>
        <dsp:cNvPr id="0" name=""/>
        <dsp:cNvSpPr/>
      </dsp:nvSpPr>
      <dsp:spPr>
        <a:xfrm>
          <a:off x="0" y="1973795"/>
          <a:ext cx="9339263" cy="157849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41328C-F198-4069-9F15-4F13D3B7D5FF}">
      <dsp:nvSpPr>
        <dsp:cNvPr id="0" name=""/>
        <dsp:cNvSpPr/>
      </dsp:nvSpPr>
      <dsp:spPr>
        <a:xfrm>
          <a:off x="477495" y="2328956"/>
          <a:ext cx="868173" cy="86817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3D445C-0F57-4E77-A4DE-7517BBB30905}">
      <dsp:nvSpPr>
        <dsp:cNvPr id="0" name=""/>
        <dsp:cNvSpPr/>
      </dsp:nvSpPr>
      <dsp:spPr>
        <a:xfrm>
          <a:off x="1823163" y="1973795"/>
          <a:ext cx="7516099" cy="15784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058" tIns="167058" rIns="167058" bIns="16705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Wearable sensors capture measurable physiological changes related to pain.</a:t>
          </a:r>
        </a:p>
      </dsp:txBody>
      <dsp:txXfrm>
        <a:off x="1823163" y="1973795"/>
        <a:ext cx="7516099" cy="1578496"/>
      </dsp:txXfrm>
    </dsp:sp>
    <dsp:sp modelId="{40FA8013-51DC-4A49-9425-513ECEC10C2A}">
      <dsp:nvSpPr>
        <dsp:cNvPr id="0" name=""/>
        <dsp:cNvSpPr/>
      </dsp:nvSpPr>
      <dsp:spPr>
        <a:xfrm>
          <a:off x="0" y="3946915"/>
          <a:ext cx="9339263" cy="157849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64C6AA-FE37-46CF-A8E2-002ECDA08A20}">
      <dsp:nvSpPr>
        <dsp:cNvPr id="0" name=""/>
        <dsp:cNvSpPr/>
      </dsp:nvSpPr>
      <dsp:spPr>
        <a:xfrm>
          <a:off x="477495" y="4302077"/>
          <a:ext cx="868173" cy="86817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083398-8CCE-451B-B7C5-EA19A5F3D079}">
      <dsp:nvSpPr>
        <dsp:cNvPr id="0" name=""/>
        <dsp:cNvSpPr/>
      </dsp:nvSpPr>
      <dsp:spPr>
        <a:xfrm>
          <a:off x="1823163" y="3946915"/>
          <a:ext cx="7516099" cy="15784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058" tIns="167058" rIns="167058" bIns="16705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This project develops a machine-learning-based system to classify pain levels using </a:t>
          </a: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physiological signals collected from a watch device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sp:txBody>
      <dsp:txXfrm>
        <a:off x="1823163" y="3946915"/>
        <a:ext cx="7516099" cy="15784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9653CA-67A7-4FE8-A417-869E91BA60AD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ECB300-CA6D-41EC-9A3E-241B8A8680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997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ECB300-CA6D-41EC-9A3E-241B8A8680F0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3473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28459-FC99-4916-B520-255FF35C7400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A3A2-B67C-47F5-BF4D-581C552A5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70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28459-FC99-4916-B520-255FF35C7400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A3A2-B67C-47F5-BF4D-581C552A5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576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28459-FC99-4916-B520-255FF35C7400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A3A2-B67C-47F5-BF4D-581C552A5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818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28459-FC99-4916-B520-255FF35C7400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A3A2-B67C-47F5-BF4D-581C552A5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65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28459-FC99-4916-B520-255FF35C7400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A3A2-B67C-47F5-BF4D-581C552A5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124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28459-FC99-4916-B520-255FF35C7400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A3A2-B67C-47F5-BF4D-581C552A5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363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28459-FC99-4916-B520-255FF35C7400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A3A2-B67C-47F5-BF4D-581C552A5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99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28459-FC99-4916-B520-255FF35C7400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A3A2-B67C-47F5-BF4D-581C552A5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6347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28459-FC99-4916-B520-255FF35C7400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A3A2-B67C-47F5-BF4D-581C552A5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604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28459-FC99-4916-B520-255FF35C7400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A3A2-B67C-47F5-BF4D-581C552A5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463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28459-FC99-4916-B520-255FF35C7400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A3A2-B67C-47F5-BF4D-581C552A5387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28319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28459-FC99-4916-B520-255FF35C7400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A3A2-B67C-47F5-BF4D-581C552A5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6906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28459-FC99-4916-B520-255FF35C7400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A3A2-B67C-47F5-BF4D-581C552A538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02121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28459-FC99-4916-B520-255FF35C7400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A3A2-B67C-47F5-BF4D-581C552A5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1040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28459-FC99-4916-B520-255FF35C7400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A3A2-B67C-47F5-BF4D-581C552A5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7771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28459-FC99-4916-B520-255FF35C7400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A3A2-B67C-47F5-BF4D-581C552A5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1112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528459-FC99-4916-B520-255FF35C7400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3E8A3A2-B67C-47F5-BF4D-581C552A5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7020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  <p:sldLayoutId id="2147483856" r:id="rId12"/>
    <p:sldLayoutId id="2147483857" r:id="rId13"/>
    <p:sldLayoutId id="2147483858" r:id="rId14"/>
    <p:sldLayoutId id="2147483859" r:id="rId15"/>
    <p:sldLayoutId id="214748386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ata-mining/" TargetMode="External"/><Relationship Id="rId2" Type="http://schemas.openxmlformats.org/officeDocument/2006/relationships/hyperlink" Target="https://www.geeksforgeeks.org/supervised-unsupervised-learning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hyperlink" Target="https://www.geeksforgeeks.org/mathematics-probability-distributions-set-3-normal-distribution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6">
            <a:extLst>
              <a:ext uri="{FF2B5EF4-FFF2-40B4-BE49-F238E27FC236}">
                <a16:creationId xmlns:a16="http://schemas.microsoft.com/office/drawing/2014/main" id="{60F11666-C7B1-5F96-12F8-FACE366268C7}"/>
              </a:ext>
            </a:extLst>
          </p:cNvPr>
          <p:cNvSpPr txBox="1"/>
          <p:nvPr/>
        </p:nvSpPr>
        <p:spPr>
          <a:xfrm>
            <a:off x="3424647" y="2689342"/>
            <a:ext cx="48247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MCA 2</a:t>
            </a:r>
            <a:r>
              <a:rPr lang="en-IN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 4th semester   SESSION  2025-26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424D55EB-FD60-BFD6-EDD2-16BD3281D8F1}"/>
              </a:ext>
            </a:extLst>
          </p:cNvPr>
          <p:cNvSpPr txBox="1"/>
          <p:nvPr/>
        </p:nvSpPr>
        <p:spPr>
          <a:xfrm>
            <a:off x="3254829" y="1170133"/>
            <a:ext cx="70270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Chronic Pain Management System</a:t>
            </a:r>
            <a:endParaRPr lang="en-IN" sz="3200" b="1" dirty="0"/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E10698A9-F517-20A4-D173-3BD3C942A1F1}"/>
              </a:ext>
            </a:extLst>
          </p:cNvPr>
          <p:cNvSpPr txBox="1"/>
          <p:nvPr/>
        </p:nvSpPr>
        <p:spPr>
          <a:xfrm>
            <a:off x="772886" y="4210539"/>
            <a:ext cx="40718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 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Ayush Rawat : 2400520140020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Mohammad Mujtaba : 2400520140040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Shivam Kumar Gupta : 2400520140062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1BBC1FF-2529-4D91-4349-A519668D30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744" y="610446"/>
            <a:ext cx="2077539" cy="189242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0999373-CF99-D45A-5B91-DF83912C7024}"/>
              </a:ext>
            </a:extLst>
          </p:cNvPr>
          <p:cNvSpPr txBox="1"/>
          <p:nvPr/>
        </p:nvSpPr>
        <p:spPr>
          <a:xfrm>
            <a:off x="7436394" y="3856597"/>
            <a:ext cx="3614057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: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Upendra Kumar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Ms. Varsha Sharma</a:t>
            </a:r>
          </a:p>
        </p:txBody>
      </p:sp>
    </p:spTree>
    <p:extLst>
      <p:ext uri="{BB962C8B-B14F-4D97-AF65-F5344CB8AC3E}">
        <p14:creationId xmlns:p14="http://schemas.microsoft.com/office/powerpoint/2010/main" val="2611760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6F2F0-79C8-63BF-124A-4BE4F6D6A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Table of Contents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7C65E-AD19-84FC-5982-75C2B163D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60715"/>
            <a:ext cx="8596668" cy="468064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bstract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880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A6721-ADD7-B0A6-3F57-0D0AEA01B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981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648E5A-F0C0-6CCE-91CC-E70792C2E8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7030355"/>
              </p:ext>
            </p:extLst>
          </p:nvPr>
        </p:nvGraphicFramePr>
        <p:xfrm>
          <a:off x="1622926" y="1641750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3032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93188-A72A-FBD7-63C9-C59763C9C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371" y="436575"/>
            <a:ext cx="8596668" cy="674914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B549FA-215A-F8EE-0603-5DA30CE16A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7347537"/>
              </p:ext>
            </p:extLst>
          </p:nvPr>
        </p:nvGraphicFramePr>
        <p:xfrm>
          <a:off x="487179" y="1111489"/>
          <a:ext cx="9339263" cy="55260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0670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E52A1-0451-2884-D72C-C61E11E9C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91547"/>
            <a:ext cx="8596668" cy="78187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CD4B48B-EBE3-982E-2F33-FA53305621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690" y="1073425"/>
            <a:ext cx="8596312" cy="213499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>
                <a:schemeClr val="tx1"/>
              </a:buClr>
              <a:buSzTx/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Pain assessed using:</a:t>
            </a:r>
          </a:p>
          <a:p>
            <a:pPr marL="857250" lvl="1" indent="-400050" defTabSz="914400" eaLnBrk="0" fontAlgn="base" hangingPunct="0">
              <a:spcBef>
                <a:spcPct val="0"/>
              </a:spcBef>
              <a:spcAft>
                <a:spcPts val="600"/>
              </a:spcAft>
              <a:buClr>
                <a:schemeClr val="tx1"/>
              </a:buClr>
              <a:buSzTx/>
              <a:buFont typeface="+mj-lt"/>
              <a:buAutoNum type="romanLcPeriod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Rating Scale (0–10)</a:t>
            </a:r>
          </a:p>
          <a:p>
            <a:pPr marL="857250" lvl="1" indent="-400050" defTabSz="914400" eaLnBrk="0" fontAlgn="base" hangingPunct="0">
              <a:spcBef>
                <a:spcPct val="0"/>
              </a:spcBef>
              <a:spcAft>
                <a:spcPts val="600"/>
              </a:spcAft>
              <a:buClr>
                <a:schemeClr val="tx1"/>
              </a:buClr>
              <a:buSzTx/>
              <a:buFont typeface="+mj-lt"/>
              <a:buAutoNum type="romanLcPeriod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Analogue Scale</a:t>
            </a:r>
          </a:p>
          <a:p>
            <a:pPr marL="857250" lvl="1" indent="-400050" defTabSz="914400" eaLnBrk="0" fontAlgn="base" hangingPunct="0">
              <a:spcBef>
                <a:spcPct val="0"/>
              </a:spcBef>
              <a:spcAft>
                <a:spcPts val="600"/>
              </a:spcAft>
              <a:buClr>
                <a:schemeClr val="tx1"/>
              </a:buClr>
              <a:buSzTx/>
              <a:buFont typeface="+mj-lt"/>
              <a:buAutoNum type="romanLcPeriod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doctor examination</a:t>
            </a:r>
          </a:p>
          <a:p>
            <a:pPr marL="857250" lvl="1" indent="-400050" defTabSz="914400" eaLnBrk="0" fontAlgn="base" hangingPunct="0">
              <a:spcBef>
                <a:spcPct val="0"/>
              </a:spcBef>
              <a:spcAft>
                <a:spcPts val="600"/>
              </a:spcAft>
              <a:buClr>
                <a:schemeClr val="tx1"/>
              </a:buClr>
              <a:buSzTx/>
              <a:buFont typeface="+mj-lt"/>
              <a:buAutoNum type="romanLcPeriod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Completely dependent on patient feedback</a:t>
            </a:r>
          </a:p>
          <a:p>
            <a:pPr marL="857250" lvl="1" indent="-400050" defTabSz="914400" eaLnBrk="0" fontAlgn="base" hangingPunct="0">
              <a:spcBef>
                <a:spcPct val="0"/>
              </a:spcBef>
              <a:spcAft>
                <a:spcPts val="600"/>
              </a:spcAft>
              <a:buClr>
                <a:schemeClr val="tx1"/>
              </a:buClr>
              <a:buSzTx/>
              <a:buFont typeface="+mj-lt"/>
              <a:buAutoNum type="romanLcPeriod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continuous, not automated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A75C60-1A9A-6560-1BAB-3A497D973DB5}"/>
              </a:ext>
            </a:extLst>
          </p:cNvPr>
          <p:cNvSpPr txBox="1"/>
          <p:nvPr/>
        </p:nvSpPr>
        <p:spPr>
          <a:xfrm>
            <a:off x="677334" y="3208421"/>
            <a:ext cx="61221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Existing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1FA513-730E-0DFB-DCBA-980CBF23BCFE}"/>
              </a:ext>
            </a:extLst>
          </p:cNvPr>
          <p:cNvSpPr txBox="1"/>
          <p:nvPr/>
        </p:nvSpPr>
        <p:spPr>
          <a:xfrm>
            <a:off x="1244796" y="3429000"/>
            <a:ext cx="4987263" cy="2949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endParaRPr lang="en-US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subjective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Inaccurate for patients who cannot express pain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real-time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capture physiological reactions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automated predictions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2243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F5A0F-FDBD-5001-7B63-E045A8DCD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53979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77690" y="986589"/>
            <a:ext cx="8596312" cy="38798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AI-based system that uses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physiological signals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predict pain intensity.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instant real-time monitoring.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pain using non-invasive sensors.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continuous wearable pain tracking.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pain level on 1–5 scale.</a:t>
            </a:r>
          </a:p>
        </p:txBody>
      </p:sp>
    </p:spTree>
    <p:extLst>
      <p:ext uri="{BB962C8B-B14F-4D97-AF65-F5344CB8AC3E}">
        <p14:creationId xmlns:p14="http://schemas.microsoft.com/office/powerpoint/2010/main" val="3593680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94A3D-6F2D-51F3-3059-E2B7DDC19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86063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 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883789F-C57A-CC69-B9A2-88E247A5A8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582" y="1716506"/>
            <a:ext cx="8915692" cy="432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182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F09E9-994A-F175-A92B-139073795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400" y="379664"/>
            <a:ext cx="8596668" cy="13208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01400" y="1136148"/>
            <a:ext cx="9204325" cy="5342188"/>
          </a:xfrm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 Collection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dirty="0"/>
              <a:t>Physiological data collected using wearable biosensors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dirty="0"/>
              <a:t> Parameters used: 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IN" dirty="0"/>
              <a:t>       </a:t>
            </a:r>
            <a:r>
              <a:rPr lang="en-IN" b="1" dirty="0" err="1"/>
              <a:t>i</a:t>
            </a:r>
            <a:r>
              <a:rPr lang="en-IN" b="1" dirty="0"/>
              <a:t>. </a:t>
            </a:r>
            <a:r>
              <a:rPr lang="en-IN" dirty="0"/>
              <a:t>Heart Rate (HR)                    </a:t>
            </a:r>
            <a:r>
              <a:rPr lang="en-IN" b="1" dirty="0"/>
              <a:t>ii. </a:t>
            </a:r>
            <a:r>
              <a:rPr lang="en-IN" dirty="0"/>
              <a:t>Electrodermal Activity (EDA)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IN" dirty="0"/>
              <a:t>   </a:t>
            </a:r>
            <a:r>
              <a:rPr lang="en-IN" b="1" dirty="0"/>
              <a:t>   iii. </a:t>
            </a:r>
            <a:r>
              <a:rPr lang="en-IN" dirty="0"/>
              <a:t>Temperature                       </a:t>
            </a:r>
            <a:r>
              <a:rPr lang="en-IN" b="1" dirty="0"/>
              <a:t>iv. </a:t>
            </a:r>
            <a:r>
              <a:rPr lang="en-IN" dirty="0"/>
              <a:t>Blood Volume Pulse (BVP)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dirty="0"/>
              <a:t>Dataset obtained from Kaggle for chronic pain prediction analysis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Preprocessing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/>
              <a:t>Removing missing values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/>
              <a:t>Cleaning noisy sensor data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Feature Extraction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/>
              <a:t>Extraction of important physiological features from sensor signals.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/>
              <a:t> Features extracted: 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b="1" dirty="0"/>
              <a:t>        </a:t>
            </a:r>
            <a:r>
              <a:rPr lang="en-US" b="1" dirty="0" err="1"/>
              <a:t>i</a:t>
            </a:r>
            <a:r>
              <a:rPr lang="en-US" b="1" dirty="0"/>
              <a:t>. </a:t>
            </a:r>
            <a:r>
              <a:rPr lang="en-US" dirty="0"/>
              <a:t>Heart Rate (HR)                                            </a:t>
            </a:r>
            <a:r>
              <a:rPr lang="en-US" b="1" dirty="0"/>
              <a:t>ii. </a:t>
            </a:r>
            <a:r>
              <a:rPr lang="en-US" dirty="0"/>
              <a:t> Electrodermal Activity (EDA) </a:t>
            </a:r>
          </a:p>
          <a:p>
            <a:pPr marL="0" indent="0">
              <a:buNone/>
            </a:pPr>
            <a:r>
              <a:rPr lang="en-US" b="1" dirty="0"/>
              <a:t>        iii. </a:t>
            </a:r>
            <a:r>
              <a:rPr lang="en-US" dirty="0"/>
              <a:t>Blood Volume Pulse (BVP)                     </a:t>
            </a:r>
            <a:r>
              <a:rPr lang="en-US" b="1" dirty="0"/>
              <a:t>       iv. </a:t>
            </a:r>
            <a:r>
              <a:rPr lang="en-US" dirty="0"/>
              <a:t> Body Temperature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303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1950F-E664-D147-94EB-7832D73315A2}"/>
              </a:ext>
            </a:extLst>
          </p:cNvPr>
          <p:cNvSpPr txBox="1">
            <a:spLocks/>
          </p:cNvSpPr>
          <p:nvPr/>
        </p:nvSpPr>
        <p:spPr>
          <a:xfrm>
            <a:off x="612517" y="204349"/>
            <a:ext cx="8756073" cy="4746827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 3" charset="2"/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Model Training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into train/test sets.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trained: Random Forest, SVM, Gradient Boosting.</a:t>
            </a:r>
          </a:p>
          <a:p>
            <a:pPr marL="0" indent="0">
              <a:buFont typeface="Wingdings 3" charset="2"/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Model Evaluation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F1-score, precision, recall.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for all 5 pain levels.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between ML models.</a:t>
            </a:r>
          </a:p>
          <a:p>
            <a:pPr marL="0" indent="0">
              <a:buFont typeface="Wingdings 3" charset="2"/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Prediction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model outputs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Pain Level (1–10)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compatibility for wearable systems.</a:t>
            </a:r>
          </a:p>
          <a:p>
            <a:pPr marL="0" indent="0">
              <a:buFont typeface="Wingdings 3" charset="2"/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513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94D09-49EE-5986-DC2C-4C6876E45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009" y="963422"/>
            <a:ext cx="9576332" cy="5759645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Random Forest: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is a popular machine learning algorithm that belongs to the supervised learning technique. It can be used for both Classification and Regression problems in ML. It is based on the concept of </a:t>
            </a:r>
            <a:r>
              <a:rPr lang="en-US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ensemble learning,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which is a process of </a:t>
            </a:r>
            <a:r>
              <a:rPr lang="en-US" b="0" i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combining multiple classifiers to solve a complex problem and to improve the performance of the model.</a:t>
            </a:r>
            <a:endParaRPr lang="en-US" b="1" i="1" dirty="0">
              <a:solidFill>
                <a:srgbClr val="333333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Random Forest Algorithm">
            <a:extLst>
              <a:ext uri="{FF2B5EF4-FFF2-40B4-BE49-F238E27FC236}">
                <a16:creationId xmlns:a16="http://schemas.microsoft.com/office/drawing/2014/main" id="{73A4AEF9-BB45-8B9D-6A7B-C60C470B7A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960" y="2672080"/>
            <a:ext cx="6127782" cy="4050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9FED623-FEFA-8484-17A5-84411D0D439D}"/>
              </a:ext>
            </a:extLst>
          </p:cNvPr>
          <p:cNvSpPr txBox="1"/>
          <p:nvPr/>
        </p:nvSpPr>
        <p:spPr>
          <a:xfrm>
            <a:off x="684921" y="340090"/>
            <a:ext cx="39074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Algorithms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301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231F9-BF63-7DA2-734F-CDE28BC84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512" y="298383"/>
            <a:ext cx="8720487" cy="6085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K-Nearest </a:t>
            </a:r>
            <a:r>
              <a:rPr lang="en-IN" b="1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r>
              <a:rPr lang="en-IN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(KNN)</a:t>
            </a:r>
          </a:p>
          <a:p>
            <a:pPr algn="l" rtl="0" fontAlgn="base"/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KNN is one of the most basic yet essential classification algorithms in machine learning. It belongs to the </a:t>
            </a:r>
            <a:r>
              <a:rPr lang="en-US" b="0" i="0" u="sng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supervised learning</a:t>
            </a:r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domain and finds intense application in pattern recognition, </a:t>
            </a:r>
            <a:r>
              <a:rPr lang="en-US" b="0" i="0" u="sng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data mining</a:t>
            </a:r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and intrusion detection.</a:t>
            </a:r>
          </a:p>
          <a:p>
            <a:pPr algn="l" rtl="0" fontAlgn="base"/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It is widely disposable in real-life scenarios since it is non-parametric, meaning it does not make any underlying assumptions about the distribution of data (as opposed to other algorithms such as GMM, which assume a </a:t>
            </a:r>
            <a:r>
              <a:rPr lang="en-US" b="0" i="0" u="sng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Gaussian distribution</a:t>
            </a:r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of the given data). We are given some prior data (also called training data), which classifies coordinates into groups identified by an attribute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KNN Algorithm working visualization">
            <a:extLst>
              <a:ext uri="{FF2B5EF4-FFF2-40B4-BE49-F238E27FC236}">
                <a16:creationId xmlns:a16="http://schemas.microsoft.com/office/drawing/2014/main" id="{4437CFC6-E8DD-5EF8-C546-C75A69EB3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064" y="3599848"/>
            <a:ext cx="4321743" cy="3221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9245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E9F54-A181-921F-A8FC-033F45BD1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82880"/>
            <a:ext cx="8596668" cy="633262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of Different Models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437D56-E8ED-AD6D-2FF9-DE76A9E0C0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94" y="1249680"/>
            <a:ext cx="5541586" cy="4592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751950-E193-3527-5437-22D2B9519B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680" y="1249680"/>
            <a:ext cx="5638800" cy="45008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D25E7E-B3DF-97B8-129B-0E38A2ACFE45}"/>
              </a:ext>
            </a:extLst>
          </p:cNvPr>
          <p:cNvSpPr txBox="1"/>
          <p:nvPr/>
        </p:nvSpPr>
        <p:spPr>
          <a:xfrm>
            <a:off x="1831910" y="5629207"/>
            <a:ext cx="17267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Random Forest</a:t>
            </a:r>
          </a:p>
          <a:p>
            <a:pPr algn="ctr"/>
            <a:r>
              <a:rPr lang="en-US" dirty="0"/>
              <a:t>Accuracy-79%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3C837A-165C-DDEC-3A5E-D71309BE3B3A}"/>
              </a:ext>
            </a:extLst>
          </p:cNvPr>
          <p:cNvSpPr txBox="1"/>
          <p:nvPr/>
        </p:nvSpPr>
        <p:spPr>
          <a:xfrm>
            <a:off x="7342639" y="5629207"/>
            <a:ext cx="15808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KNN</a:t>
            </a:r>
          </a:p>
          <a:p>
            <a:pPr algn="ctr"/>
            <a:r>
              <a:rPr lang="en-US" dirty="0"/>
              <a:t>Accuracy-72%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8908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1B9C6-7A27-E40E-13A4-4A355EC88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14939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Output: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8EF79EA-31E0-2E4C-F9B3-4C324B3974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34" y="1424539"/>
            <a:ext cx="7934786" cy="4528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238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CF162-1022-5788-4092-9783AF97E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022" y="654518"/>
            <a:ext cx="8426979" cy="131866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77689" y="965284"/>
            <a:ext cx="8596312" cy="246371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AI-driven chronic pain management system accurately predicts pain levels using wearable sensor data.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offers objective, continuous, and automated pain assessment, reducing dependency on subjective reporting and improving healthcare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706553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35581-5BDB-6A38-82B1-E5B51C0BA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336884"/>
            <a:ext cx="8596668" cy="805314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BFC51-BC5A-33B1-58CD-6FD3169A8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098884"/>
            <a:ext cx="9172519" cy="57591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P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ouromran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F., Radhakrishnan, S.,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Kamarthi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Exploration of Physiological Sensors, Features, and Machine Learning Models for Pain Intensity Estimation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PLOS ONE, 2021.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Discusses the use of physiological sensors and machine learning models for predicting pain intensity.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Schuurmans, A.A.T., de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Looff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Nijhof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K.S., Rosada, C., Popma, A., Otten, R.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Validity of the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Empatica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E4 Wristband to Measure Heart Rate Variability (HRV) Parameters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Journal of Medical Systems, 2020.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Evaluates the accuracy of the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Empatica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E4 wristband by comparing it with ECG measurements.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Campanella, S., et al.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Method for Stress Detection Using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Empatica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E4 Bracelet Signals and Machine-Learning Algorithms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Sensors, 2023.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Explains stress detection techniques using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Empatica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E4 sensor data and machine learning algorithms.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Treede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R.D., et al.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Chronic Pain as a Symptom or a Disease: The IASP Classification of Chronic Pain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Pain, 2019.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Explains the definition, classification, and impact of chronic pain as a major health condition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851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0485E37-EA77-77B8-FB5E-E7EFC6751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863" y="942975"/>
            <a:ext cx="8596312" cy="509905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Raja, S.N., et al.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Revised International Association for the Study of Pain (IASP) Definition of Pain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Pain, 2020.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Provides the updated medical definition of pain and discusses challenges in pain assessment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Apkarian, A.V., et al.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Chronic Pain Patients Are Impaired on an Emotional Decision-Making Task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Pain, 2004.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Explains how chronic pain affects emotional and psychological well-being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[7]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Breivik, H., et al.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of Chronic Pain in Europe: Prevalence, Impact on Daily Life, and Treatment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European Journal of Pain, 2006.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Presents statistics and real-world effects of chronic pain on patients across different countries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[8]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Gureje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O., et al.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Persistent Pain and Well-Being: A World Health Organization Study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JAMA, 1998.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Highlights the global impact of chronic pain on quality of life and mental health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B.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Charbuty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A. Abdulazeez, “Classification based on decision tree algorithm for machine learning,” Journal of Applied Science and Technology Trends, vol. 2, no. 01, pp. 20–28, 2021.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[10] M. R. Segal, “Machine learning benchmarks and random forest regression,” 2004.</a:t>
            </a:r>
          </a:p>
        </p:txBody>
      </p:sp>
    </p:spTree>
    <p:extLst>
      <p:ext uri="{BB962C8B-B14F-4D97-AF65-F5344CB8AC3E}">
        <p14:creationId xmlns:p14="http://schemas.microsoft.com/office/powerpoint/2010/main" val="249568125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441</TotalTime>
  <Words>1109</Words>
  <Application>Microsoft Office PowerPoint</Application>
  <PresentationFormat>Widescreen</PresentationFormat>
  <Paragraphs>106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PowerPoint Presentation</vt:lpstr>
      <vt:lpstr>              Table of Contents</vt:lpstr>
      <vt:lpstr>Abstract</vt:lpstr>
      <vt:lpstr>Introduction</vt:lpstr>
      <vt:lpstr>Existing System</vt:lpstr>
      <vt:lpstr>Proposed System</vt:lpstr>
      <vt:lpstr>Data Flow Diagram </vt:lpstr>
      <vt:lpstr>Methodology</vt:lpstr>
      <vt:lpstr>PowerPoint Presentation</vt:lpstr>
      <vt:lpstr>PowerPoint Presentation</vt:lpstr>
      <vt:lpstr>PowerPoint Presentation</vt:lpstr>
      <vt:lpstr>Accuracy of Different Models</vt:lpstr>
      <vt:lpstr>Sample Output:</vt:lpstr>
      <vt:lpstr>Conclusion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Harsh Jaiswal</dc:creator>
  <cp:lastModifiedBy>AYUSH RAWAT</cp:lastModifiedBy>
  <cp:revision>6</cp:revision>
  <dcterms:created xsi:type="dcterms:W3CDTF">2024-04-22T13:56:18Z</dcterms:created>
  <dcterms:modified xsi:type="dcterms:W3CDTF">2026-05-28T11:00:57Z</dcterms:modified>
</cp:coreProperties>
</file>